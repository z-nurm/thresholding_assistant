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558993af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558993af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58993afa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558993afa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58993afa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558993afa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64e57302a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64e57302a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64e57302a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64e57302a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967936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f967936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f9679360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f9679360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558993afa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558993af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4859f217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4859f217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6ee3fd32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6ee3fd32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4859f217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4859f217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6ee3fd3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6ee3fd3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5697ac8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5697ac8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6ee3fd32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6ee3fd32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558993afa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558993afa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64e5730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64e5730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64e57302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d64e57302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64e57302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64e57302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64e57302a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64e57302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63808c7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63808c7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5697ac8d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5697ac8d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Relationship Id="rId4" Type="http://schemas.openxmlformats.org/officeDocument/2006/relationships/image" Target="../media/image30.jp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Introduction to Segmentation</a:t>
            </a:r>
            <a:endParaRPr sz="5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Thresholding in FIJI: Image Processing, Step 1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514600" y="3540825"/>
            <a:ext cx="411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Zafar Nurmatov, 2026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57" name="Google Shape;57;p13" title="Fiji-icon-32867164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971925"/>
            <a:ext cx="857850" cy="8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UNI_Bonn_Logo_Standard_RZ_Office.jpg"/>
          <p:cNvPicPr preferRelativeResize="0"/>
          <p:nvPr/>
        </p:nvPicPr>
        <p:blipFill rotWithShape="1">
          <a:blip r:embed="rId4">
            <a:alphaModFix/>
          </a:blip>
          <a:srcRect b="0" l="61099" r="0" t="0"/>
          <a:stretch/>
        </p:blipFill>
        <p:spPr>
          <a:xfrm>
            <a:off x="8101025" y="4037800"/>
            <a:ext cx="731274" cy="7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430425" y="3027425"/>
            <a:ext cx="16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Acquisition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682200" y="3521475"/>
            <a:ext cx="177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Image Processing</a:t>
            </a:r>
            <a:endParaRPr b="1"/>
          </a:p>
        </p:txBody>
      </p:sp>
      <p:sp>
        <p:nvSpPr>
          <p:cNvPr id="66" name="Google Shape;66;p14"/>
          <p:cNvSpPr txBox="1"/>
          <p:nvPr/>
        </p:nvSpPr>
        <p:spPr>
          <a:xfrm>
            <a:off x="7626125" y="3259525"/>
            <a:ext cx="146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Data Analysis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793800" y="3244225"/>
            <a:ext cx="104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Images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90400" y="3244225"/>
            <a:ext cx="12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Samples</a:t>
            </a:r>
            <a:endParaRPr sz="1800"/>
          </a:p>
        </p:txBody>
      </p:sp>
      <p:sp>
        <p:nvSpPr>
          <p:cNvPr id="69" name="Google Shape;69;p14"/>
          <p:cNvSpPr txBox="1"/>
          <p:nvPr/>
        </p:nvSpPr>
        <p:spPr>
          <a:xfrm>
            <a:off x="5494425" y="3244225"/>
            <a:ext cx="75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2D </a:t>
            </a:r>
            <a:r>
              <a:rPr lang="en"/>
              <a:t>Fluorescence Microscopy, Workflow</a:t>
            </a:r>
            <a:endParaRPr/>
          </a:p>
        </p:txBody>
      </p:sp>
      <p:cxnSp>
        <p:nvCxnSpPr>
          <p:cNvPr id="71" name="Google Shape;71;p14"/>
          <p:cNvCxnSpPr/>
          <p:nvPr/>
        </p:nvCxnSpPr>
        <p:spPr>
          <a:xfrm>
            <a:off x="5965625" y="3638550"/>
            <a:ext cx="400200" cy="29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0" l="0" r="12018" t="4744"/>
          <a:stretch/>
        </p:blipFill>
        <p:spPr>
          <a:xfrm rot="-5400000">
            <a:off x="424761" y="3310536"/>
            <a:ext cx="1478978" cy="21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 rotWithShape="1">
          <a:blip r:embed="rId4">
            <a:alphaModFix/>
          </a:blip>
          <a:srcRect b="0" l="6123" r="9189" t="2960"/>
          <a:stretch/>
        </p:blipFill>
        <p:spPr>
          <a:xfrm>
            <a:off x="1430425" y="687875"/>
            <a:ext cx="1583640" cy="241963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1700693" y="3363031"/>
            <a:ext cx="1043100" cy="22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 rotWithShape="1">
          <a:blip r:embed="rId5">
            <a:alphaModFix/>
          </a:blip>
          <a:srcRect b="0" l="0" r="47465" t="0"/>
          <a:stretch/>
        </p:blipFill>
        <p:spPr>
          <a:xfrm>
            <a:off x="5815119" y="3981138"/>
            <a:ext cx="2407499" cy="7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3807748" y="3363025"/>
            <a:ext cx="1528500" cy="22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" name="Google Shape;77;p14"/>
          <p:cNvCxnSpPr/>
          <p:nvPr/>
        </p:nvCxnSpPr>
        <p:spPr>
          <a:xfrm flipH="1" rot="10800000">
            <a:off x="3451025" y="2608650"/>
            <a:ext cx="464400" cy="68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8" name="Google Shape;78;p14" title="Image001_ch0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4775" y="820000"/>
            <a:ext cx="2943232" cy="220742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6251625" y="3363450"/>
            <a:ext cx="1370100" cy="22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Processing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1700" y="724825"/>
            <a:ext cx="8160900" cy="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Despite the variety of workflows and scenarios, the first, or one of the first steps in image processing is segmentation</a:t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311700" y="1537825"/>
            <a:ext cx="8160900" cy="400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Segmentation: </a:t>
            </a:r>
            <a:r>
              <a:rPr lang="en"/>
              <a:t>separation of cellular objects from the background into groups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311700" y="2162488"/>
            <a:ext cx="8160900" cy="19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There are different types of (automatic) segmentation algorithms, each of which is based on a particular principle.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In </a:t>
            </a:r>
            <a:r>
              <a:rPr lang="en" sz="1400">
                <a:solidFill>
                  <a:schemeClr val="dk1"/>
                </a:solidFill>
              </a:rPr>
              <a:t>contrast</a:t>
            </a:r>
            <a:r>
              <a:rPr lang="en" sz="1400">
                <a:solidFill>
                  <a:schemeClr val="dk1"/>
                </a:solidFill>
              </a:rPr>
              <a:t>, m</a:t>
            </a:r>
            <a:r>
              <a:rPr lang="en" sz="1400">
                <a:solidFill>
                  <a:schemeClr val="dk1"/>
                </a:solidFill>
              </a:rPr>
              <a:t>anual segmentation refers to manual outlining of cellular objects of interest from the background. </a:t>
            </a:r>
            <a:r>
              <a:rPr lang="en" sz="1400">
                <a:solidFill>
                  <a:schemeClr val="dk1"/>
                </a:solidFill>
              </a:rPr>
              <a:t>When comparing against manual segmentation, various segmentation algorithms yield variable and somewhat inaccurate results, which can impact downstream processing. [Ref. 2]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As it turns out, the method oftentimes closest to manual segmentation was a single global threshold determined in advance by the expert.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11700" y="4410150"/>
            <a:ext cx="8160900" cy="400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Thresholding Assistant: </a:t>
            </a:r>
            <a:r>
              <a:rPr lang="en"/>
              <a:t>a Fiji Macro to support the user in determining this global threshold value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6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Segmentation in Action </a:t>
            </a:r>
            <a:r>
              <a:rPr lang="en"/>
              <a:t>1/2</a:t>
            </a:r>
            <a:endParaRPr/>
          </a:p>
        </p:txBody>
      </p:sp>
      <p:pic>
        <p:nvPicPr>
          <p:cNvPr id="96" name="Google Shape;96;p16" title="Screenshot from 2026-04-15 17-26-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8425"/>
            <a:ext cx="2672900" cy="278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title="Screenshot from 2026-04-15 17-26-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5550" y="1178425"/>
            <a:ext cx="2672900" cy="278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title="Screenshot from 2026-04-15 17-26-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9400" y="1178425"/>
            <a:ext cx="2672900" cy="278663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4221450" y="407880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Otsu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7041650" y="4078800"/>
            <a:ext cx="9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Huang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1133050" y="4078800"/>
            <a:ext cx="10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Original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Segmentation in Action 2/2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4221450" y="407880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Otsu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7041650" y="4078800"/>
            <a:ext cx="9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Huang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1133050" y="4078800"/>
            <a:ext cx="10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Original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1" name="Google Shape;111;p17" title="Screenshot from 2026-04-15 17-26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5550" y="1178425"/>
            <a:ext cx="2672900" cy="278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Screenshot from 2026-04-15 17-23-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5550" y="1178437"/>
            <a:ext cx="2672900" cy="27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 title="Screenshot from 2026-04-15 17-24-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9399" y="1178436"/>
            <a:ext cx="2672900" cy="2786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 title="Screenshot from 2026-04-15 17-24-4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699" y="1178425"/>
            <a:ext cx="2672900" cy="2786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Fiji and the “Thresholding Assistant” Macro</a:t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354750" y="892525"/>
            <a:ext cx="3628500" cy="2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What is Fiji?</a:t>
            </a:r>
            <a:r>
              <a:rPr lang="en" sz="1100"/>
              <a:t>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Fiji</a:t>
            </a:r>
            <a:r>
              <a:rPr lang="en" sz="1200">
                <a:solidFill>
                  <a:schemeClr val="dk1"/>
                </a:solidFill>
              </a:rPr>
              <a:t> is an image processing package. Why use Fiji?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Free and open source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Easy to install and use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Available on most operating systems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Bundled with a lot of preinstalled plugins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Has extensive documentation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2" name="Google Shape;122;p18" title="Fiji-icon-32867164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625" y="2978725"/>
            <a:ext cx="1604350" cy="160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/>
        </p:nvSpPr>
        <p:spPr>
          <a:xfrm>
            <a:off x="4711800" y="892525"/>
            <a:ext cx="41205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Why use this script?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It streamlines the discovery of valid threshold values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The macro is accessible and easy to use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May help to find the proper balance between time and accuracy</a:t>
            </a:r>
            <a:endParaRPr sz="1200"/>
          </a:p>
        </p:txBody>
      </p:sp>
      <p:pic>
        <p:nvPicPr>
          <p:cNvPr id="124" name="Google Shape;124;p18" title="qr-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700" y="2847550"/>
            <a:ext cx="1866701" cy="186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run the macro 1/2</a:t>
            </a:r>
            <a:endParaRPr/>
          </a:p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311700" y="1740625"/>
            <a:ext cx="125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7558675" y="3530200"/>
            <a:ext cx="28500" cy="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311700" y="1001700"/>
            <a:ext cx="3100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Download the macro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Open Fiji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Press “Plugins” (in red)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AutoNum type="arabicPeriod"/>
            </a:pPr>
            <a:r>
              <a:rPr lang="en" sz="1600">
                <a:solidFill>
                  <a:srgbClr val="CCCCCC"/>
                </a:solidFill>
              </a:rPr>
              <a:t>Click on “Macros”</a:t>
            </a:r>
            <a:endParaRPr sz="1600">
              <a:solidFill>
                <a:srgbClr val="CCCCCC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CCCCCC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AutoNum type="arabicPeriod"/>
            </a:pPr>
            <a:r>
              <a:rPr lang="en" sz="1600">
                <a:solidFill>
                  <a:srgbClr val="CCCCCC"/>
                </a:solidFill>
              </a:rPr>
              <a:t>Press “Run”</a:t>
            </a:r>
            <a:endParaRPr sz="1600">
              <a:solidFill>
                <a:srgbClr val="CCCCCC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CCCCCC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AutoNum type="arabicPeriod"/>
            </a:pPr>
            <a:r>
              <a:rPr lang="en" sz="1600">
                <a:solidFill>
                  <a:srgbClr val="CCCCCC"/>
                </a:solidFill>
              </a:rPr>
              <a:t>Select the macro in the pop-up window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8239350" y="215275"/>
            <a:ext cx="78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Part 3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135" name="Google Shape;135;p19" title="Screenshot from 2026-04-10 18-38-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8925" y="1263525"/>
            <a:ext cx="4941450" cy="76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/>
          <p:nvPr/>
        </p:nvSpPr>
        <p:spPr>
          <a:xfrm>
            <a:off x="5398200" y="1469813"/>
            <a:ext cx="467700" cy="196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run the macro 2/2</a:t>
            </a:r>
            <a:endParaRPr/>
          </a:p>
        </p:txBody>
      </p:sp>
      <p:pic>
        <p:nvPicPr>
          <p:cNvPr id="142" name="Google Shape;142;p20" title="Screenshot from 2026-04-10 18-42-44.png"/>
          <p:cNvPicPr preferRelativeResize="0"/>
          <p:nvPr/>
        </p:nvPicPr>
        <p:blipFill rotWithShape="1">
          <a:blip r:embed="rId3">
            <a:alphaModFix/>
          </a:blip>
          <a:srcRect b="71420" l="0" r="55697" t="0"/>
          <a:stretch/>
        </p:blipFill>
        <p:spPr>
          <a:xfrm>
            <a:off x="3489850" y="1515550"/>
            <a:ext cx="5239598" cy="211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311700" y="1740625"/>
            <a:ext cx="125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7558675" y="3530200"/>
            <a:ext cx="28500" cy="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311700" y="1001700"/>
            <a:ext cx="3100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AutoNum type="arabicPeriod"/>
            </a:pPr>
            <a:r>
              <a:rPr lang="en" sz="1600">
                <a:solidFill>
                  <a:srgbClr val="B7B7B7"/>
                </a:solidFill>
              </a:rPr>
              <a:t>Download it</a:t>
            </a:r>
            <a:endParaRPr sz="1600">
              <a:solidFill>
                <a:srgbClr val="B7B7B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B7B7B7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AutoNum type="arabicPeriod"/>
            </a:pPr>
            <a:r>
              <a:rPr lang="en" sz="1600">
                <a:solidFill>
                  <a:srgbClr val="B7B7B7"/>
                </a:solidFill>
              </a:rPr>
              <a:t>Open Fiji</a:t>
            </a:r>
            <a:endParaRPr sz="1600">
              <a:solidFill>
                <a:srgbClr val="B7B7B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B7B7B7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AutoNum type="arabicPeriod"/>
            </a:pPr>
            <a:r>
              <a:rPr lang="en" sz="1600">
                <a:solidFill>
                  <a:srgbClr val="B7B7B7"/>
                </a:solidFill>
              </a:rPr>
              <a:t>Press “Plugins”</a:t>
            </a:r>
            <a:endParaRPr sz="1600">
              <a:solidFill>
                <a:srgbClr val="B7B7B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Click on “Macros”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Press “Run”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Select the macro in the pop-up window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8239350" y="215275"/>
            <a:ext cx="78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Part 3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5597100" y="1515550"/>
            <a:ext cx="489600" cy="1587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7438225" y="1674325"/>
            <a:ext cx="277500" cy="146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311700" y="4194763"/>
            <a:ext cx="841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After that, the macro will run and the first dialog window will appear (see the next slide)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 title="Screenshot from 2026-04-19 22-41-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0175" y="1599575"/>
            <a:ext cx="3158794" cy="21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311700" y="724825"/>
            <a:ext cx="52386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Select folder with .tif images (input directory).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Provide the number of channels in the images. This value is set to 3 by default.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Sample Size: how many randomly selected images would be representative of the entire collection of images? This value is set to 5 by default, but it is recommended to increase it to 7-10.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Check the “Skip Ch1 thresholding” box if it is not necessary to estimate Ch1 threshold (Channel 1 being a reference/structural channel)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“Adjust Image Processing?” needs to be chosen to alter the processing pipeline!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8" name="Google Shape;158;p21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Dialog 1: Basic setup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2"/>
          <p:cNvSpPr txBox="1"/>
          <p:nvPr>
            <p:ph type="title"/>
          </p:nvPr>
        </p:nvSpPr>
        <p:spPr>
          <a:xfrm>
            <a:off x="311700" y="152125"/>
            <a:ext cx="8520600" cy="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Dialog 2: </a:t>
            </a:r>
            <a:r>
              <a:rPr i="1" lang="en"/>
              <a:t>“Adjust Image Processing?”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8">
                <a:solidFill>
                  <a:schemeClr val="dk2"/>
                </a:solidFill>
              </a:rPr>
              <a:t>Image Processing after Thresholding</a:t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311700" y="2034188"/>
            <a:ext cx="6004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Threshold: segments the image into foreground and background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Despeckle: removes small particles from the foreground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Median Filter: removes noise and preserves edges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Channel 1-specific operations: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Fill Holes: if there is a ring-like particle, e.g. whose rim pixels have higher intensity than the center pixels, then everything within the ring will be also be counted as particle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Watershed: separates aggregated, clumped particles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8239350" y="215275"/>
            <a:ext cx="78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Part 4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311700" y="922825"/>
            <a:ext cx="836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built-in image processing workflow consists of the following steps: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Threshold -&gt; Despeckle -&gt; Median Filter -&gt; Fill Holes -&gt; Watershed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of these operations is </a:t>
            </a:r>
            <a:r>
              <a:rPr i="1" lang="en">
                <a:solidFill>
                  <a:schemeClr val="dk1"/>
                </a:solidFill>
              </a:rPr>
              <a:t>optional</a:t>
            </a:r>
            <a:r>
              <a:rPr lang="en">
                <a:solidFill>
                  <a:schemeClr val="dk1"/>
                </a:solidFill>
              </a:rPr>
              <a:t> (except thresholding) - see the following slides for illustrations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8" name="Google Shape;168;p22" title="Screenshot from 2026-04-15 10-29-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9773" y="2230676"/>
            <a:ext cx="2102525" cy="173101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417050" y="4282600"/>
            <a:ext cx="84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Click on “OK” to confirm the settings and start estimating the thresholds!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3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 3/6</a:t>
            </a:r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152400" y="724825"/>
            <a:ext cx="842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1. Inspect the automatically estimated threshold - it might be needed to move the “Montage” windows to view each channel independently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77" name="Google Shape;177;p23" title="Screenshot from 2026-04-17 11-32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10100"/>
            <a:ext cx="5871713" cy="310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4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 3/6</a:t>
            </a:r>
            <a:endParaRPr/>
          </a:p>
        </p:txBody>
      </p:sp>
      <p:pic>
        <p:nvPicPr>
          <p:cNvPr id="184" name="Google Shape;184;p24" title="Screenshot from 2026-04-16 21-07-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6113" y="1510088"/>
            <a:ext cx="2866925" cy="16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/>
        </p:nvSpPr>
        <p:spPr>
          <a:xfrm>
            <a:off x="152400" y="724825"/>
            <a:ext cx="842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1. Inspect the automatically estimated threshold - it might be needed to move the “Montage” windows to view each channel independently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6156275" y="3557938"/>
            <a:ext cx="282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2. If it seems necessary to adjust the threshold, click “Yes”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87" name="Google Shape;187;p24" title="Screenshot from 2026-04-17 11-32-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10100"/>
            <a:ext cx="5871713" cy="310900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/>
          <p:nvPr/>
        </p:nvSpPr>
        <p:spPr>
          <a:xfrm>
            <a:off x="8563375" y="2799450"/>
            <a:ext cx="328800" cy="2997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5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 4/6</a:t>
            </a:r>
            <a:endParaRPr/>
          </a:p>
        </p:txBody>
      </p:sp>
      <p:pic>
        <p:nvPicPr>
          <p:cNvPr id="195" name="Google Shape;195;p25" title="Screenshot from 2026-04-17 11-23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67675"/>
            <a:ext cx="1587500" cy="14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 title="Screenshot from 2026-04-16 21-07-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571750"/>
            <a:ext cx="2166625" cy="12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/>
        </p:nvSpPr>
        <p:spPr>
          <a:xfrm>
            <a:off x="1899200" y="867675"/>
            <a:ext cx="462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3. Change the values accordingly and click “OK”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98" name="Google Shape;198;p25" title="Screenshot from 2026-04-17 11-32-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8510" y="1283175"/>
            <a:ext cx="6233792" cy="33009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5"/>
          <p:cNvCxnSpPr/>
          <p:nvPr/>
        </p:nvCxnSpPr>
        <p:spPr>
          <a:xfrm flipH="1">
            <a:off x="1835325" y="1224450"/>
            <a:ext cx="627300" cy="894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5"/>
          <p:cNvCxnSpPr/>
          <p:nvPr/>
        </p:nvCxnSpPr>
        <p:spPr>
          <a:xfrm flipH="1" rot="10800000">
            <a:off x="1459025" y="3749075"/>
            <a:ext cx="94200" cy="329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25"/>
          <p:cNvSpPr txBox="1"/>
          <p:nvPr/>
        </p:nvSpPr>
        <p:spPr>
          <a:xfrm>
            <a:off x="2945900" y="4584125"/>
            <a:ext cx="253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4. Inspect the new estimate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311700" y="4026100"/>
            <a:ext cx="2286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5. Click on “Yes” to iterate one more time, or click on “No” and move on to the next sample image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 5/6</a:t>
            </a:r>
            <a:endParaRPr/>
          </a:p>
        </p:txBody>
      </p:sp>
      <p:pic>
        <p:nvPicPr>
          <p:cNvPr id="209" name="Google Shape;209;p26" title="Screenshot from 2026-04-16 21-07-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975" y="1150700"/>
            <a:ext cx="2396475" cy="160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6" title="Screenshot from 2026-04-17 11-32-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075" y="970350"/>
            <a:ext cx="5099651" cy="27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6" title="Screenshot from 2026-04-17 11-39-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550" y="1150700"/>
            <a:ext cx="5105919" cy="27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 txBox="1"/>
          <p:nvPr/>
        </p:nvSpPr>
        <p:spPr>
          <a:xfrm>
            <a:off x="228025" y="4125500"/>
            <a:ext cx="805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As the number of sampled images is still low, it is reasonable to inspect more images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8008100" y="2434150"/>
            <a:ext cx="365400" cy="2631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27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 6/6</a:t>
            </a:r>
            <a:endParaRPr/>
          </a:p>
        </p:txBody>
      </p:sp>
      <p:pic>
        <p:nvPicPr>
          <p:cNvPr id="220" name="Google Shape;220;p27" title="Screenshot from 2026-04-16 21-07-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3350" y="1951400"/>
            <a:ext cx="2396475" cy="160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 title="Screenshot from 2026-04-17 11-32-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075" y="970350"/>
            <a:ext cx="5099651" cy="27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 title="Screenshot from 2026-04-17 11-39-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550" y="1150700"/>
            <a:ext cx="5105919" cy="270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 title="Screenshot from 2026-04-17 11-39-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5900" y="1321425"/>
            <a:ext cx="5099648" cy="268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 title="Screenshot from 2026-04-17 11-40-2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6225" y="1477200"/>
            <a:ext cx="5099648" cy="2698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 title="Screenshot from 2026-04-17 11-40-0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2700" y="1654325"/>
            <a:ext cx="5105925" cy="269726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/>
        </p:nvSpPr>
        <p:spPr>
          <a:xfrm>
            <a:off x="220175" y="4423450"/>
            <a:ext cx="838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After being done with estimating the thresholds, click on “No” in the pop-up window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569723" y="3245125"/>
            <a:ext cx="321900" cy="2484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8"/>
          <p:cNvSpPr txBox="1"/>
          <p:nvPr/>
        </p:nvSpPr>
        <p:spPr>
          <a:xfrm>
            <a:off x="311700" y="238375"/>
            <a:ext cx="85206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46">
                <a:solidFill>
                  <a:srgbClr val="000000"/>
                </a:solidFill>
              </a:rPr>
              <a:t>Session Information</a:t>
            </a:r>
            <a:endParaRPr sz="3246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36">
                <a:solidFill>
                  <a:srgbClr val="595959"/>
                </a:solidFill>
              </a:rPr>
              <a:t>Saved as a .txt file to the output folder</a:t>
            </a:r>
            <a:endParaRPr sz="1836">
              <a:solidFill>
                <a:srgbClr val="595959"/>
              </a:solidFill>
            </a:endParaRPr>
          </a:p>
        </p:txBody>
      </p:sp>
      <p:pic>
        <p:nvPicPr>
          <p:cNvPr id="234" name="Google Shape;234;p28" title="Screenshot from 2026-04-16 21-11-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475" y="943375"/>
            <a:ext cx="4219936" cy="389532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/>
          <p:nvPr/>
        </p:nvSpPr>
        <p:spPr>
          <a:xfrm>
            <a:off x="311700" y="1740600"/>
            <a:ext cx="2901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arenR"/>
            </a:pPr>
            <a:r>
              <a:rPr lang="en" sz="1600">
                <a:solidFill>
                  <a:schemeClr val="dk1"/>
                </a:solidFill>
              </a:rPr>
              <a:t>Timestamps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arenR"/>
            </a:pPr>
            <a:r>
              <a:rPr lang="en" sz="1600">
                <a:solidFill>
                  <a:schemeClr val="dk1"/>
                </a:solidFill>
              </a:rPr>
              <a:t>Images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arenR"/>
            </a:pPr>
            <a:r>
              <a:rPr lang="en" sz="1600">
                <a:solidFill>
                  <a:schemeClr val="dk1"/>
                </a:solidFill>
              </a:rPr>
              <a:t>Iterations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arenR"/>
            </a:pPr>
            <a:r>
              <a:rPr lang="en" sz="1600">
                <a:solidFill>
                  <a:schemeClr val="dk1"/>
                </a:solidFill>
              </a:rPr>
              <a:t>Channels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arenR"/>
            </a:pPr>
            <a:r>
              <a:rPr lang="en" sz="1600">
                <a:solidFill>
                  <a:schemeClr val="dk1"/>
                </a:solidFill>
              </a:rPr>
              <a:t>Thresholds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arenR"/>
            </a:pPr>
            <a:r>
              <a:rPr lang="en" sz="1600">
                <a:solidFill>
                  <a:schemeClr val="dk1"/>
                </a:solidFill>
              </a:rPr>
              <a:t>Suggested thresholds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311700" y="4211775"/>
            <a:ext cx="342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For easier tracking, troubleshooting and reporting 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29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 1/5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29" title="Screenshot from 2026-04-12 14-07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025" y="839125"/>
            <a:ext cx="3625101" cy="39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/>
          <p:nvPr/>
        </p:nvSpPr>
        <p:spPr>
          <a:xfrm>
            <a:off x="4351150" y="2627738"/>
            <a:ext cx="1500300" cy="39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9"/>
          <p:cNvSpPr txBox="1"/>
          <p:nvPr/>
        </p:nvSpPr>
        <p:spPr>
          <a:xfrm>
            <a:off x="4239825" y="2319450"/>
            <a:ext cx="185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Split Channels 2,3</a:t>
            </a:r>
            <a:endParaRPr sz="1500"/>
          </a:p>
        </p:txBody>
      </p:sp>
      <p:pic>
        <p:nvPicPr>
          <p:cNvPr id="246" name="Google Shape;246;p29" title="Screenshot from 2026-04-15 10-52-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4325" y="239350"/>
            <a:ext cx="2338125" cy="481747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9"/>
          <p:cNvSpPr txBox="1"/>
          <p:nvPr/>
        </p:nvSpPr>
        <p:spPr>
          <a:xfrm>
            <a:off x="4201125" y="2925825"/>
            <a:ext cx="193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Downsample to 8-bit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0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 2/5 - Threshold</a:t>
            </a:r>
            <a:endParaRPr/>
          </a:p>
        </p:txBody>
      </p:sp>
      <p:pic>
        <p:nvPicPr>
          <p:cNvPr id="254" name="Google Shape;254;p30" title="Screenshot from 2026-04-15 10-55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63" y="724825"/>
            <a:ext cx="7737286" cy="411387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/>
          <p:nvPr/>
        </p:nvSpPr>
        <p:spPr>
          <a:xfrm>
            <a:off x="2212300" y="4728000"/>
            <a:ext cx="742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GFAP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6202200" y="4735650"/>
            <a:ext cx="7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Piezo1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1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Processing 3/5 - Despeckle</a:t>
            </a:r>
            <a:endParaRPr/>
          </a:p>
        </p:txBody>
      </p:sp>
      <p:pic>
        <p:nvPicPr>
          <p:cNvPr id="263" name="Google Shape;263;p31" title="Screenshot from 2026-04-15 10-56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75" y="724825"/>
            <a:ext cx="7737278" cy="411387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1"/>
          <p:cNvSpPr txBox="1"/>
          <p:nvPr/>
        </p:nvSpPr>
        <p:spPr>
          <a:xfrm>
            <a:off x="2212300" y="4728000"/>
            <a:ext cx="742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GFAP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65" name="Google Shape;265;p31"/>
          <p:cNvSpPr txBox="1"/>
          <p:nvPr/>
        </p:nvSpPr>
        <p:spPr>
          <a:xfrm>
            <a:off x="6202200" y="4735650"/>
            <a:ext cx="7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Piezo1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32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Processing 4/5 - Median Filter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32" title="Screenshot from 2026-04-15 10-57-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63" y="724825"/>
            <a:ext cx="7737274" cy="411385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 txBox="1"/>
          <p:nvPr/>
        </p:nvSpPr>
        <p:spPr>
          <a:xfrm>
            <a:off x="2212300" y="4728000"/>
            <a:ext cx="742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GFAP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6202200" y="4735650"/>
            <a:ext cx="7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Piezo1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3"/>
          <p:cNvSpPr txBox="1"/>
          <p:nvPr>
            <p:ph type="title"/>
          </p:nvPr>
        </p:nvSpPr>
        <p:spPr>
          <a:xfrm>
            <a:off x="311700" y="152125"/>
            <a:ext cx="8520600" cy="8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Processing 5/5 - Channel 1 (Optional)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Is there any Ch1 Processing at all? If yes, and all previous steps have been completed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1" name="Google Shape;281;p33" title="Screenshot from 2026-04-12 14-24-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7350" y="1020093"/>
            <a:ext cx="2829301" cy="2949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3" title="Screenshot from 2026-04-12 14-24-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9578" y="1020113"/>
            <a:ext cx="2829301" cy="294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3" title="Screenshot from 2026-04-12 14-34-2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125" y="1020088"/>
            <a:ext cx="2829301" cy="294970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3"/>
          <p:cNvSpPr/>
          <p:nvPr/>
        </p:nvSpPr>
        <p:spPr>
          <a:xfrm>
            <a:off x="1557925" y="4023125"/>
            <a:ext cx="2556900" cy="864300"/>
          </a:xfrm>
          <a:prstGeom prst="curvedUpArrow">
            <a:avLst>
              <a:gd fmla="val 15880" name="adj1"/>
              <a:gd fmla="val 50388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3"/>
          <p:cNvSpPr/>
          <p:nvPr/>
        </p:nvSpPr>
        <p:spPr>
          <a:xfrm>
            <a:off x="4789275" y="4023125"/>
            <a:ext cx="2556900" cy="864300"/>
          </a:xfrm>
          <a:prstGeom prst="curvedUpArrow">
            <a:avLst>
              <a:gd fmla="val 15880" name="adj1"/>
              <a:gd fmla="val 50388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3"/>
          <p:cNvSpPr txBox="1"/>
          <p:nvPr/>
        </p:nvSpPr>
        <p:spPr>
          <a:xfrm>
            <a:off x="2222275" y="4394625"/>
            <a:ext cx="104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Fill Holes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5403650" y="4394625"/>
            <a:ext cx="123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Watershed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idx="1" type="body"/>
          </p:nvPr>
        </p:nvSpPr>
        <p:spPr>
          <a:xfrm>
            <a:off x="311700" y="2805600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Schindelin, J., Arganda-Carreras, I., Frise, E. </a:t>
            </a:r>
            <a:r>
              <a:rPr i="1" lang="en" sz="1100">
                <a:solidFill>
                  <a:schemeClr val="dk1"/>
                </a:solidFill>
              </a:rPr>
              <a:t>et al.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Fiji: an open-source platform for biological-image analysis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i="1" lang="en" sz="1100">
                <a:solidFill>
                  <a:schemeClr val="dk1"/>
                </a:solidFill>
              </a:rPr>
              <a:t>Nat Methods</a:t>
            </a:r>
            <a:r>
              <a:rPr lang="en" sz="1100">
                <a:solidFill>
                  <a:schemeClr val="dk1"/>
                </a:solidFill>
              </a:rPr>
              <a:t> 9, 676–682 (2012)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Dima, A.A., Elliott, J.T., Filliben, J.J. </a:t>
            </a:r>
            <a:r>
              <a:rPr i="1" lang="en" sz="1100">
                <a:solidFill>
                  <a:schemeClr val="dk1"/>
                </a:solidFill>
              </a:rPr>
              <a:t>et al.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Comparison of segmentation algorithms for fluorescence microscopy images of cells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i="1" lang="en" sz="1100">
                <a:solidFill>
                  <a:schemeClr val="dk1"/>
                </a:solidFill>
              </a:rPr>
              <a:t>Cytometry</a:t>
            </a:r>
            <a:r>
              <a:rPr lang="en" sz="1100">
                <a:solidFill>
                  <a:schemeClr val="dk1"/>
                </a:solidFill>
              </a:rPr>
              <a:t>, 79A: 545-559 (2011)</a:t>
            </a:r>
            <a:endParaRPr/>
          </a:p>
        </p:txBody>
      </p:sp>
      <p:pic>
        <p:nvPicPr>
          <p:cNvPr id="293" name="Google Shape;293;p34" title="Fiji-icon-32867164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971925"/>
            <a:ext cx="857850" cy="8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34"/>
          <p:cNvSpPr txBox="1"/>
          <p:nvPr>
            <p:ph type="title"/>
          </p:nvPr>
        </p:nvSpPr>
        <p:spPr>
          <a:xfrm>
            <a:off x="311700" y="220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96" name="Google Shape;296;p34"/>
          <p:cNvSpPr txBox="1"/>
          <p:nvPr>
            <p:ph type="title"/>
          </p:nvPr>
        </p:nvSpPr>
        <p:spPr>
          <a:xfrm>
            <a:off x="311700" y="15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</p:txBody>
      </p:sp>
      <p:sp>
        <p:nvSpPr>
          <p:cNvPr id="297" name="Google Shape;297;p34"/>
          <p:cNvSpPr txBox="1"/>
          <p:nvPr>
            <p:ph idx="1" type="body"/>
          </p:nvPr>
        </p:nvSpPr>
        <p:spPr>
          <a:xfrm>
            <a:off x="311700" y="724825"/>
            <a:ext cx="8520600" cy="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estimated thresholds can be used in other macros or plugins requiring pre-defined values for image segmentation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